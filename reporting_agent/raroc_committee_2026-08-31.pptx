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RAROC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2E7D32"/>
              </a:solidFill>
            </c:spPr>
          </c:dPt>
          <c:dPt>
            <c:idx val="3"/>
            <c:spPr>
              <a:solidFill>
                <a:srgbClr val="C62828"/>
              </a:solidFill>
            </c:spPr>
          </c:dPt>
          <c:dPt>
            <c:idx val="4"/>
            <c:spPr>
              <a:solidFill>
                <a:srgbClr val="F9A825"/>
              </a:solidFill>
            </c:spPr>
          </c:dPt>
          <c:cat>
            <c:strRef>
              <c:f>Sheet1!$A$2:$A$6</c:f>
              <c:strCache>
                <c:ptCount val="5"/>
                <c:pt idx="0">
                  <c:v>Business Banking</c:v>
                </c:pt>
                <c:pt idx="1">
                  <c:v>C&amp;I Large Corporate</c:v>
                </c:pt>
                <c:pt idx="2">
                  <c:v>C&amp;I Middle Market</c:v>
                </c:pt>
                <c:pt idx="3">
                  <c:v>CRE Investor</c:v>
                </c:pt>
                <c:pt idx="4">
                  <c:v>CRE Owner-Occupied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0.162</c:v>
                </c:pt>
                <c:pt idx="1">
                  <c:v>0.134</c:v>
                </c:pt>
                <c:pt idx="2">
                  <c:v>0.151</c:v>
                </c:pt>
                <c:pt idx="3">
                  <c:v>0.097</c:v>
                </c:pt>
                <c:pt idx="4">
                  <c:v>0.118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HURDLE</c:v>
                </c:pt>
              </c:strCache>
            </c:strRef>
          </c:tx>
          <c:spPr>
            <a:solidFill>
              <a:srgbClr val="8FAADC"/>
            </a:solidFill>
            <a:ln>
              <a:solidFill>
                <a:srgbClr val="8FAADC"/>
              </a:solidFill>
            </a:ln>
          </c:spPr>
          <c:cat>
            <c:strRef>
              <c:f>Sheet1!$A$2:$A$6</c:f>
              <c:strCache>
                <c:ptCount val="5"/>
                <c:pt idx="0">
                  <c:v>Business Banking</c:v>
                </c:pt>
                <c:pt idx="1">
                  <c:v>C&amp;I Large Corporate</c:v>
                </c:pt>
                <c:pt idx="2">
                  <c:v>C&amp;I Middle Market</c:v>
                </c:pt>
                <c:pt idx="3">
                  <c:v>CRE Investor</c:v>
                </c:pt>
                <c:pt idx="4">
                  <c:v>CRE Owner-Occupied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0.12</c:v>
                </c:pt>
                <c:pt idx="1">
                  <c:v>0.12</c:v>
                </c:pt>
                <c:pt idx="2">
                  <c:v>0.12</c:v>
                </c:pt>
                <c:pt idx="3">
                  <c:v>0.12</c:v>
                </c:pt>
                <c:pt idx="4">
                  <c:v>0.12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0.0%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report_id=raroc_committee spec=e218bddd5b07 git=no-git run=2026-09-22T03:29:52Z params={'as_of': '2026-08-31', 'lob': 'Commercial Banking'}</a:t>
            </a:r>
          </a:p>
          <a:p>
            <a:r>
              <a:t>by_segment: fixtures/rpt_raroc_by_segment.csv rows=5 hash=b39392fa6d01</a:t>
            </a:r>
          </a:p>
          <a:p>
            <a:r>
              <a:t>top_clients: fixtures/rpt_raroc_top_clients.csv rows=8 hash=55a16d384df6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report_id=raroc_committee spec=e218bddd5b07 git=no-git run=2026-09-22T03:29:52Z params={'as_of': '2026-08-31', 'lob': 'Commercial Banking'}</a:t>
            </a:r>
          </a:p>
          <a:p>
            <a:r>
              <a:t>by_segment: fixtures/rpt_raroc_by_segment.csv rows=5 hash=b39392fa6d01</a:t>
            </a:r>
          </a:p>
          <a:p>
            <a:r>
              <a:t>top_clients: fixtures/rpt_raroc_top_clients.csv rows=8 hash=55a16d384df6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report_id=raroc_committee spec=e218bddd5b07 git=no-git run=2026-09-22T03:29:52Z params={'as_of': '2026-08-31', 'lob': 'Commercial Banking'}</a:t>
            </a:r>
          </a:p>
          <a:p>
            <a:r>
              <a:t>by_segment: fixtures/rpt_raroc_by_segment.csv rows=5 hash=b39392fa6d01</a:t>
            </a:r>
          </a:p>
          <a:p>
            <a:r>
              <a:t>top_clients: fixtures/rpt_raroc_top_clients.csv rows=8 hash=55a16d384df6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report_id=raroc_committee spec=e218bddd5b07 git=no-git run=2026-09-22T03:29:52Z params={'as_of': '2026-08-31', 'lob': 'Commercial Banking'}</a:t>
            </a:r>
          </a:p>
          <a:p>
            <a:r>
              <a:t>by_segment: fixtures/rpt_raroc_by_segment.csv rows=5 hash=b39392fa6d01</a:t>
            </a:r>
          </a:p>
          <a:p>
            <a:r>
              <a:t>top_clients: fixtures/rpt_raroc_top_clients.csv rows=8 hash=55a16d384df6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94560"/>
            <a:ext cx="10332720" cy="1371600"/>
          </a:xfrm>
        </p:spPr>
        <p:txBody>
          <a:bodyPr/>
          <a:lstStyle/>
          <a:p>
            <a:r>
              <a:t>Commercial Banking — Client Profitability (RAROC) Committee Pack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57600"/>
            <a:ext cx="10332720" cy="731520"/>
          </a:xfrm>
        </p:spPr>
        <p:txBody>
          <a:bodyPr/>
          <a:lstStyle/>
          <a:p>
            <a:r>
              <a:t>as_of: 2026-08-31  |  lob: Commercial Banking  |  Owner: Client Profitability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3000"/>
              <a:t>RAROC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/>
              <a:t>Segment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5349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</a:tblGrid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EXPOSURE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REVENUE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RAROC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Business 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$3,305.2MM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$74.0MM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16.2%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C&amp;I Large Corporate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$4,210.5MM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$61.2MM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13.4%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C&amp;I Middle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$6,875.0MM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$112.9MM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15.1%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CRE Investor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$5,120.3MM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$58.4MM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CRE Owner-Occupied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$1,980.7MM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$31.6MM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11.8%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63640" y="960120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/>
              <a:t>RAROC vs hurdle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3640" y="1280160"/>
          <a:ext cx="5349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B7A"/>
                </a:solidFill>
              </a:rPr>
              <a:t>Source: rpt_raroc_by_segment, rpt_raroc_top_clients | as_of=2026-08-31 lob=Commercial Banking | build no-git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3000"/>
              <a:t>Largest Exposures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EXPOSURE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REVENUE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NIM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RAROC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Client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$412.0MM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$5.1MM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182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12.1%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Client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$388.5MM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$4.2MM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155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9.4%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Client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$355.0MM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$3.9MM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171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Client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$301.2MM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$6.3MM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244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17.1%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Client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$290.8MM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$3.1MM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149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10.3%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Client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$276.4MM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$4.8MM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201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13.9%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Client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$244.9MM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$5.6MM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288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18.4%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Client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$231.0MM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$3.4MM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176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11.5%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B7A"/>
                </a:solidFill>
              </a:rPr>
              <a:t>Source: rpt_raroc_by_segment, rpt_raroc_top_clients | as_of=2026-08-31 lob=Commercial Banking | build no-git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3000"/>
              <a:t>Commentary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C62828"/>
                </a:solidFill>
              </a:rPr>
              <a:t>DRAFT — requires analyst sign-off</a:t>
            </a:r>
          </a:p>
          <a:p>
            <a:pPr>
              <a:spcBef>
                <a:spcPts val="600"/>
              </a:spcBef>
            </a:pPr>
            <a:r>
              <a:rPr sz="1400">
                <a:latin typeface="Calibri"/>
              </a:rPr>
              <a:t>Profitability observations (system-generated):</a:t>
            </a:r>
          </a:p>
          <a:p>
            <a:pPr>
              <a:spcBef>
                <a:spcPts val="600"/>
              </a:spcBef>
            </a:pPr>
            <a:r>
              <a:rPr sz="1400">
                <a:latin typeface="Calibri"/>
              </a:rPr>
              <a:t>RAROC for CRE Investor is 9.7%, below the 10.0% minimum.</a:t>
            </a:r>
          </a:p>
          <a:p>
            <a:pPr>
              <a:spcBef>
                <a:spcPts val="600"/>
              </a:spcBef>
            </a:pPr>
            <a:r>
              <a:rPr sz="1400">
                <a:latin typeface="Calibri"/>
              </a:rPr>
              <a:t>RAROC for Client B is 9.4%, below the 10.0% minimum.</a:t>
            </a:r>
          </a:p>
          <a:p>
            <a:pPr>
              <a:spcBef>
                <a:spcPts val="600"/>
              </a:spcBef>
            </a:pPr>
            <a:r>
              <a:rPr sz="1400">
                <a:latin typeface="Calibri"/>
              </a:rPr>
              <a:t>RAROC for Client C is 8.8%, below the 10.0% minimum.</a:t>
            </a:r>
          </a:p>
          <a:p>
            <a:pPr>
              <a:spcBef>
                <a:spcPts val="600"/>
              </a:spcBef>
            </a:pPr>
            <a:r>
              <a:rPr sz="1400">
                <a:latin typeface="Calibri"/>
              </a:rPr>
              <a:t>RAROC for CRE Owner-Occupied is 11.8%, below the 12.0% target.</a:t>
            </a:r>
          </a:p>
          <a:p>
            <a:pPr>
              <a:spcBef>
                <a:spcPts val="600"/>
              </a:spcBef>
            </a:pPr>
            <a:r>
              <a:rPr sz="1400">
                <a:latin typeface="Calibri"/>
              </a:rPr>
              <a:t>RAROC for Client E is 10.3%, below the 12.0% target.</a:t>
            </a:r>
          </a:p>
          <a:p>
            <a:pPr>
              <a:spcBef>
                <a:spcPts val="600"/>
              </a:spcBef>
            </a:pPr>
            <a:r>
              <a:rPr sz="1400">
                <a:latin typeface="Calibri"/>
              </a:rPr>
              <a:t>RAROC for Client H is 11.5%, below the 12.0% 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B7A"/>
                </a:solidFill>
              </a:rPr>
              <a:t>Source: rpt_raroc_by_segment, rpt_raroc_top_clients | as_of=2026-08-31 lob=Commercial Banking | build no-git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