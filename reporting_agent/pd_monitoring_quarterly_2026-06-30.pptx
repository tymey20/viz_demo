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PSI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9A825"/>
              </a:solidFill>
            </c:spPr>
          </c:dPt>
          <c:dPt>
            <c:idx val="3"/>
            <c:spPr>
              <a:solidFill>
                <a:srgbClr val="2E7D32"/>
              </a:solidFill>
            </c:spPr>
          </c:dPt>
          <c:dPt>
            <c:idx val="4"/>
            <c:spPr>
              <a:solidFill>
                <a:srgbClr val="C62828"/>
              </a:solidFill>
            </c:spPr>
          </c:dPt>
          <c:cat>
            <c:strRef>
              <c:f>Sheet1!$A$2:$A$6</c:f>
              <c:strCache>
                <c:ptCount val="5"/>
                <c:pt idx="0">
                  <c:v>C&amp;I Large Corporate</c:v>
                </c:pt>
                <c:pt idx="1">
                  <c:v>C&amp;I Middle Market</c:v>
                </c:pt>
                <c:pt idx="2">
                  <c:v>CRE Investor</c:v>
                </c:pt>
                <c:pt idx="3">
                  <c:v>CRE Owner-Occupied</c:v>
                </c:pt>
                <c:pt idx="4">
                  <c:v>Business Banking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0.041</c:v>
                </c:pt>
                <c:pt idx="1">
                  <c:v>0.087</c:v>
                </c:pt>
                <c:pt idx="2">
                  <c:v>0.183</c:v>
                </c:pt>
                <c:pt idx="3">
                  <c:v>0.064</c:v>
                </c:pt>
                <c:pt idx="4">
                  <c:v>0.271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numFmt formatCode="0.00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Banking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2025-09-30</c:v>
                </c:pt>
                <c:pt idx="1">
                  <c:v>2025-12-31</c:v>
                </c:pt>
                <c:pt idx="2">
                  <c:v>2026-03-31</c:v>
                </c:pt>
                <c:pt idx="3">
                  <c:v>2026-06-30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0.142</c:v>
                </c:pt>
                <c:pt idx="1">
                  <c:v>0.187</c:v>
                </c:pt>
                <c:pt idx="2">
                  <c:v>0.231</c:v>
                </c:pt>
                <c:pt idx="3">
                  <c:v>0.271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C&amp;I Large Corporate</c:v>
                </c:pt>
              </c:strCache>
            </c:strRef>
          </c:tx>
          <c:spPr>
            <a:solidFill>
              <a:srgbClr val="8FAADC"/>
            </a:solidFill>
            <a:ln>
              <a:solidFill>
                <a:srgbClr val="8FAADC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2025-09-30</c:v>
                </c:pt>
                <c:pt idx="1">
                  <c:v>2025-12-31</c:v>
                </c:pt>
                <c:pt idx="2">
                  <c:v>2026-03-31</c:v>
                </c:pt>
                <c:pt idx="3">
                  <c:v>2026-06-30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0.031</c:v>
                </c:pt>
                <c:pt idx="1">
                  <c:v>0.035</c:v>
                </c:pt>
                <c:pt idx="2">
                  <c:v>0.038</c:v>
                </c:pt>
                <c:pt idx="3">
                  <c:v>0.041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C&amp;I Middle Market</c:v>
                </c:pt>
              </c:strCache>
            </c:strRef>
          </c:tx>
          <c:spPr>
            <a:solidFill>
              <a:srgbClr val="C55A11"/>
            </a:solidFill>
            <a:ln>
              <a:solidFill>
                <a:srgbClr val="C55A11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2025-09-30</c:v>
                </c:pt>
                <c:pt idx="1">
                  <c:v>2025-12-31</c:v>
                </c:pt>
                <c:pt idx="2">
                  <c:v>2026-03-31</c:v>
                </c:pt>
                <c:pt idx="3">
                  <c:v>2026-06-30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0.052</c:v>
                </c:pt>
                <c:pt idx="1">
                  <c:v>0.061</c:v>
                </c:pt>
                <c:pt idx="2">
                  <c:v>0.074</c:v>
                </c:pt>
                <c:pt idx="3">
                  <c:v>0.087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CRE Investor</c:v>
                </c:pt>
              </c:strCache>
            </c:strRef>
          </c:tx>
          <c:spPr>
            <a:solidFill>
              <a:srgbClr val="7F7F7F"/>
            </a:solidFill>
            <a:ln>
              <a:solidFill>
                <a:srgbClr val="7F7F7F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2025-09-30</c:v>
                </c:pt>
                <c:pt idx="1">
                  <c:v>2025-12-31</c:v>
                </c:pt>
                <c:pt idx="2">
                  <c:v>2026-03-31</c:v>
                </c:pt>
                <c:pt idx="3">
                  <c:v>2026-06-30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0.094</c:v>
                </c:pt>
                <c:pt idx="1">
                  <c:v>0.118</c:v>
                </c:pt>
                <c:pt idx="2">
                  <c:v>0.151</c:v>
                </c:pt>
                <c:pt idx="3">
                  <c:v>0.183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CRE Owner-Occupied</c:v>
                </c:pt>
              </c:strCache>
            </c:strRef>
          </c:tx>
          <c:spPr>
            <a:solidFill>
              <a:srgbClr val="548235"/>
            </a:solidFill>
            <a:ln>
              <a:solidFill>
                <a:srgbClr val="548235"/>
              </a:solidFill>
            </a:ln>
          </c:spPr>
          <c:cat>
            <c:strRef>
              <c:f>Sheet1!$A$2:$A$5</c:f>
              <c:strCache>
                <c:ptCount val="4"/>
                <c:pt idx="0">
                  <c:v>2025-09-30</c:v>
                </c:pt>
                <c:pt idx="1">
                  <c:v>2025-12-31</c:v>
                </c:pt>
                <c:pt idx="2">
                  <c:v>2026-03-31</c:v>
                </c:pt>
                <c:pt idx="3">
                  <c:v>2026-06-30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0.047</c:v>
                </c:pt>
                <c:pt idx="1">
                  <c:v>0.055</c:v>
                </c:pt>
                <c:pt idx="2">
                  <c:v>0.06</c:v>
                </c:pt>
                <c:pt idx="3">
                  <c:v>0.064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numFmt formatCode="0.000" sourceLinked="0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DR</c:v>
                </c:pt>
              </c:strCache>
            </c:strRef>
          </c:tx>
          <c:spPr>
            <a:solidFill>
              <a:srgbClr val="1F4E79"/>
            </a:solidFill>
            <a:ln>
              <a:solidFill>
                <a:srgbClr val="1F4E79"/>
              </a:solidFill>
            </a:ln>
          </c:spPr>
          <c:cat>
            <c:strRef>
              <c:f>Sheet1!$A$2:$A$6</c:f>
              <c:strCache>
                <c:ptCount val="5"/>
                <c:pt idx="0">
                  <c:v>C&amp;I Large Corporate</c:v>
                </c:pt>
                <c:pt idx="1">
                  <c:v>C&amp;I Middle Market</c:v>
                </c:pt>
                <c:pt idx="2">
                  <c:v>CRE Investor</c:v>
                </c:pt>
                <c:pt idx="3">
                  <c:v>CRE Owner-Occupied</c:v>
                </c:pt>
                <c:pt idx="4">
                  <c:v>Business Banking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0.012</c:v>
                </c:pt>
                <c:pt idx="1">
                  <c:v>0.021</c:v>
                </c:pt>
                <c:pt idx="2">
                  <c:v>0.018</c:v>
                </c:pt>
                <c:pt idx="3">
                  <c:v>0.015</c:v>
                </c:pt>
                <c:pt idx="4">
                  <c:v>0.034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 DR</c:v>
                </c:pt>
              </c:strCache>
            </c:strRef>
          </c:tx>
          <c:spPr>
            <a:solidFill>
              <a:srgbClr val="8FAADC"/>
            </a:solidFill>
            <a:ln>
              <a:solidFill>
                <a:srgbClr val="8FAADC"/>
              </a:solidFill>
            </a:ln>
          </c:spPr>
          <c:cat>
            <c:strRef>
              <c:f>Sheet1!$A$2:$A$6</c:f>
              <c:strCache>
                <c:ptCount val="5"/>
                <c:pt idx="0">
                  <c:v>C&amp;I Large Corporate</c:v>
                </c:pt>
                <c:pt idx="1">
                  <c:v>C&amp;I Middle Market</c:v>
                </c:pt>
                <c:pt idx="2">
                  <c:v>CRE Investor</c:v>
                </c:pt>
                <c:pt idx="3">
                  <c:v>CRE Owner-Occupied</c:v>
                </c:pt>
                <c:pt idx="4">
                  <c:v>Business Banking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0.01</c:v>
                </c:pt>
                <c:pt idx="1">
                  <c:v>0.024</c:v>
                </c:pt>
                <c:pt idx="2">
                  <c:v>0.027</c:v>
                </c:pt>
                <c:pt idx="3">
                  <c:v>0.016</c:v>
                </c:pt>
                <c:pt idx="4">
                  <c:v>0.041</c:v>
                </c:pt>
              </c:numCache>
            </c:numRef>
          </c:val>
        </c:ser>
        <c:dLbls>
          <c:numFmt formatCode="0.0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numFmt formatCode="0.00%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report_id=pd_monitoring_quarterly spec=4f1ea6311d1b git=no-git run=2026-09-22T03:29:52Z params={'as_of': '2026-06-30', 'portfolio': 'Commercial'}</a:t>
            </a:r>
          </a:p>
          <a:p>
            <a:r>
              <a:t>seg: fixtures/rpt_pd_monitoring.csv rows=5 hash=631e569ac780</a:t>
            </a:r>
          </a:p>
          <a:p>
            <a:r>
              <a:t>trend: fixtures/rpt_pd_monitoring.csv rows=20 hash=a5a5f7178567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report_id=pd_monitoring_quarterly spec=4f1ea6311d1b git=no-git run=2026-09-22T03:29:52Z params={'as_of': '2026-06-30', 'portfolio': 'Commercial'}</a:t>
            </a:r>
          </a:p>
          <a:p>
            <a:r>
              <a:t>seg: fixtures/rpt_pd_monitoring.csv rows=5 hash=631e569ac780</a:t>
            </a:r>
          </a:p>
          <a:p>
            <a:r>
              <a:t>trend: fixtures/rpt_pd_monitoring.csv rows=20 hash=a5a5f7178567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report_id=pd_monitoring_quarterly spec=4f1ea6311d1b git=no-git run=2026-09-22T03:29:52Z params={'as_of': '2026-06-30', 'portfolio': 'Commercial'}</a:t>
            </a:r>
          </a:p>
          <a:p>
            <a:r>
              <a:t>seg: fixtures/rpt_pd_monitoring.csv rows=5 hash=631e569ac780</a:t>
            </a:r>
          </a:p>
          <a:p>
            <a:r>
              <a:t>trend: fixtures/rpt_pd_monitoring.csv rows=20 hash=a5a5f7178567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report_id=pd_monitoring_quarterly spec=4f1ea6311d1b git=no-git run=2026-09-22T03:29:52Z params={'as_of': '2026-06-30', 'portfolio': 'Commercial'}</a:t>
            </a:r>
          </a:p>
          <a:p>
            <a:r>
              <a:t>seg: fixtures/rpt_pd_monitoring.csv rows=5 hash=631e569ac780</a:t>
            </a:r>
          </a:p>
          <a:p>
            <a:r>
              <a:t>trend: fixtures/rpt_pd_monitoring.csv rows=20 hash=a5a5f7178567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report_id=pd_monitoring_quarterly spec=4f1ea6311d1b git=no-git run=2026-09-22T03:29:52Z params={'as_of': '2026-06-30', 'portfolio': 'Commercial'}</a:t>
            </a:r>
          </a:p>
          <a:p>
            <a:r>
              <a:t>seg: fixtures/rpt_pd_monitoring.csv rows=5 hash=631e569ac780</a:t>
            </a:r>
          </a:p>
          <a:p>
            <a:r>
              <a:t>trend: fixtures/rpt_pd_monitoring.csv rows=20 hash=a5a5f7178567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94560"/>
            <a:ext cx="10332720" cy="1371600"/>
          </a:xfrm>
        </p:spPr>
        <p:txBody>
          <a:bodyPr/>
          <a:lstStyle/>
          <a:p>
            <a:r>
              <a:t>Commercial PD Model — Quarterly Performance Monitoring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57600"/>
            <a:ext cx="10332720" cy="731520"/>
          </a:xfrm>
        </p:spPr>
        <p:txBody>
          <a:bodyPr/>
          <a:lstStyle/>
          <a:p>
            <a:r>
              <a:t>as_of: 2026-06-30  |  portfolio: Commercial  |  Owner: Credit Risk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3000"/>
              <a:t>Discrimination by Segment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 OBLIGORS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GINI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KS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C&amp;I Large Corporate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0.612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0.448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C&amp;I Middle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4,210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0.563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0.412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CRE Investor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2,975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Calibri"/>
                        </a:rPr>
                        <a:t>0.471</a:t>
                      </a:r>
                    </a:p>
                  </a:txBody>
                  <a:tcPr>
                    <a:solidFill>
                      <a:srgbClr val="F9A8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0.338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CRE Owner-Occupied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1,560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0.528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0.391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Business Banking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8,830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0.287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B7A"/>
                </a:solidFill>
              </a:rPr>
              <a:t>Source: rpt_pd_monitoring, rpt_pd_monitoring | as_of=2026-06-30 portfolio=Commercial | build no-git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3000"/>
              <a:t>Population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/>
              <a:t>PSI by segment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280160"/>
          <a:ext cx="5349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63640" y="960120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00"/>
              <a:t>PSI trend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280160"/>
          <a:ext cx="534924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B7A"/>
                </a:solidFill>
              </a:rPr>
              <a:t>Source: rpt_pd_monitoring, rpt_pd_monitoring | as_of=2026-06-30 portfolio=Commercial | build no-git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3000"/>
              <a:t>Calibration — Predicted vs. Observed Default Rate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110642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B7A"/>
                </a:solidFill>
              </a:rPr>
              <a:t>Source: rpt_pd_monitoring, rpt_pd_monitoring | as_of=2026-06-30 portfolio=Commercial | build no-git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822960"/>
          </a:xfrm>
        </p:spPr>
        <p:txBody>
          <a:bodyPr/>
          <a:lstStyle/>
          <a:p>
            <a:pPr algn="l"/>
            <a:r>
              <a:rPr sz="3000"/>
              <a:t>Commentary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C62828"/>
                </a:solidFill>
              </a:rPr>
              <a:t>DRAFT — requires analyst sign-off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Business Banking breaches on both dimensions: Gini is Red at 0.389 (Amber threshold 0.400) and PSI is Red at 0.271 (Amber threshold 0.250).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CRE Investor is Amber on Gini at 0.471 and on PSI at 0.183 against its segment-specific Green threshold of 0.150.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Question for review: is the Business Banking PSI shift concentrated in a single input variable?</a:t>
            </a:r>
          </a:p>
          <a:p>
            <a:pPr>
              <a:spcBef>
                <a:spcPts val="600"/>
              </a:spcBef>
            </a:pPr>
            <a:r>
              <a:rPr sz="1400">
                <a:latin typeface="Calibri"/>
              </a:rPr>
              <a:t>Question for review: should the Business Banking model move to enhanced monitoring per MRM standard?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B7A"/>
                </a:solidFill>
              </a:rPr>
              <a:t>Source: rpt_pd_monitoring, rpt_pd_monitoring | as_of=2026-06-30 portfolio=Commercial | build no-git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